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43" r:id="rId15"/>
    <p:sldId id="345" r:id="rId16"/>
    <p:sldId id="346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7152" y="4604521"/>
            <a:ext cx="3944057" cy="861497"/>
          </a:xfrm>
        </p:spPr>
        <p:txBody>
          <a:bodyPr>
            <a:norm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Name : </a:t>
            </a:r>
            <a:r>
              <a:rPr lang="en-US" sz="1200" dirty="0" err="1">
                <a:solidFill>
                  <a:schemeClr val="tx1"/>
                </a:solidFill>
              </a:rPr>
              <a:t>Dhanaseelan</a:t>
            </a:r>
            <a:r>
              <a:rPr lang="en-US" sz="1200" dirty="0">
                <a:solidFill>
                  <a:schemeClr val="tx1"/>
                </a:solidFill>
              </a:rPr>
              <a:t> R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</a:rPr>
              <a:t>Collage Name : SASTRA Deemed to be University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50" y="2685552"/>
            <a:ext cx="9333501" cy="743448"/>
          </a:xfrm>
        </p:spPr>
        <p:txBody>
          <a:bodyPr>
            <a:normAutofit/>
          </a:bodyPr>
          <a:lstStyle/>
          <a:p>
            <a:r>
              <a:rPr lang="en-US" sz="3200" dirty="0"/>
              <a:t>Healthcare Analytics For Doctor Visit 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478F42-B87C-659C-45F6-AE6E965F5666}"/>
              </a:ext>
            </a:extLst>
          </p:cNvPr>
          <p:cNvSpPr txBox="1"/>
          <p:nvPr/>
        </p:nvSpPr>
        <p:spPr>
          <a:xfrm>
            <a:off x="4911276" y="3862872"/>
            <a:ext cx="4515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 </a:t>
            </a:r>
            <a:r>
              <a:rPr lang="en-IN" sz="1400" b="1" dirty="0"/>
              <a:t>AICTE Reg no : STU6a6ccd17eea6d1785515287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392" y="1614196"/>
            <a:ext cx="6807814" cy="432007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en-IN" dirty="0"/>
          </a:p>
          <a:p>
            <a:pPr lvl="0"/>
            <a:r>
              <a:rPr lang="en-IN" b="1" dirty="0"/>
              <a:t>Operational Inefficiency:</a:t>
            </a:r>
            <a:r>
              <a:rPr lang="en-IN" dirty="0"/>
              <a:t> Healthcare facilities face unpredictable patient footfall and staffing imbalances due to a lack of visibility into what drives outpatient visits. </a:t>
            </a:r>
          </a:p>
          <a:p>
            <a:pPr lvl="0"/>
            <a:r>
              <a:rPr lang="en-IN" b="1" dirty="0"/>
              <a:t>Resource Misallocation:</a:t>
            </a:r>
            <a:r>
              <a:rPr lang="en-IN" dirty="0"/>
              <a:t> Without identifying whether visits are triggered by immediate symptoms, chronic conditions, or insurance access, providers risk overstaffing or under-serving high-need patients. </a:t>
            </a:r>
          </a:p>
          <a:p>
            <a:pPr lvl="0"/>
            <a:r>
              <a:rPr lang="en-IN" b="1" dirty="0"/>
              <a:t>Objective: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patient data to isolate the key factors influencing doctor visits, enabling accurate demand forecasting and targeted clinical resource allocation. 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6CE7FB-BA47-CD03-5642-66CBE3A14291}"/>
              </a:ext>
            </a:extLst>
          </p:cNvPr>
          <p:cNvSpPr txBox="1"/>
          <p:nvPr/>
        </p:nvSpPr>
        <p:spPr>
          <a:xfrm>
            <a:off x="1362270" y="2055378"/>
            <a:ext cx="74336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Data Scope:</a:t>
            </a:r>
            <a:r>
              <a:rPr lang="en-IN" dirty="0"/>
              <a:t> Evaluated 5,190 patient records across 12 demographic, socioeconomic, and clinical attributes.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Core Metrics:</a:t>
            </a:r>
            <a:r>
              <a:rPr lang="en-IN" dirty="0"/>
              <a:t> </a:t>
            </a:r>
            <a:r>
              <a:rPr lang="en-IN" dirty="0" err="1"/>
              <a:t>Analyzed</a:t>
            </a:r>
            <a:r>
              <a:rPr lang="en-IN" dirty="0"/>
              <a:t> total doctor consultations (visits) alongside key drivers such as days of reduced activity (reduced), acute illnesses (illness), chronic health conditions, and insurance coverage models.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Methodology:</a:t>
            </a:r>
            <a:r>
              <a:rPr lang="en-IN" dirty="0"/>
              <a:t> Performed data cleaning, categorical normalization, engineered features for visit occurrences and chronic illness types, and mapped </a:t>
            </a:r>
            <a:r>
              <a:rPr lang="en-IN" dirty="0" err="1"/>
              <a:t>behavioral</a:t>
            </a:r>
            <a:r>
              <a:rPr lang="en-IN" dirty="0"/>
              <a:t> patterns through statistical distributions and correlation matrices. </a:t>
            </a:r>
          </a:p>
          <a:p>
            <a:pPr lvl="0"/>
            <a:r>
              <a:rPr lang="en-IN" b="1" dirty="0"/>
              <a:t>Goal:</a:t>
            </a:r>
            <a:r>
              <a:rPr lang="en-IN" dirty="0"/>
              <a:t> Identify the primary factors that prompt medical consultations to inform capacity planning and targeted patient care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13245" y="1991360"/>
            <a:ext cx="7904481" cy="418544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1. Hospital &amp; Clinic Administrators:</a:t>
            </a:r>
            <a:endParaRPr lang="en-IN" dirty="0"/>
          </a:p>
          <a:p>
            <a:pPr lvl="1"/>
            <a:r>
              <a:rPr lang="en-IN" dirty="0"/>
              <a:t>Forecast patient footfall and schedule physician shifts more effectively based on acute symptom prevalence and high-utilization groups. </a:t>
            </a:r>
          </a:p>
          <a:p>
            <a:pPr lvl="0"/>
            <a:r>
              <a:rPr lang="en-IN" b="1" dirty="0"/>
              <a:t>2. Health Insurance Providers &amp; Underwriters:</a:t>
            </a:r>
            <a:endParaRPr lang="en-IN" dirty="0"/>
          </a:p>
          <a:p>
            <a:pPr lvl="1"/>
            <a:r>
              <a:rPr lang="en-IN" dirty="0"/>
              <a:t>Design risk-stratified premium tiers and wellness plans targeted at members with activity-limiting conditions. </a:t>
            </a:r>
          </a:p>
          <a:p>
            <a:pPr lvl="0"/>
            <a:r>
              <a:rPr lang="en-IN" b="1" dirty="0"/>
              <a:t>3. Public Health Policy Makers:</a:t>
            </a:r>
            <a:endParaRPr lang="en-IN" dirty="0"/>
          </a:p>
          <a:p>
            <a:pPr lvl="1"/>
            <a:r>
              <a:rPr lang="en-IN" dirty="0"/>
              <a:t>Assess whether government welfare and subsidized medical access programs are adequately reaching disadvantaged and veteran cohorts. </a:t>
            </a:r>
          </a:p>
          <a:p>
            <a:pPr lvl="0"/>
            <a:r>
              <a:rPr lang="en-IN" b="1" dirty="0"/>
              <a:t>4. Chronic Disease Care Managers:</a:t>
            </a:r>
            <a:endParaRPr lang="en-IN" dirty="0"/>
          </a:p>
          <a:p>
            <a:pPr lvl="1"/>
            <a:r>
              <a:rPr lang="en-IN" dirty="0"/>
              <a:t>Target preventive outpatient interventions to reduce acute symptom flare-ups and unnecessary frequent clinical visits.</a:t>
            </a:r>
          </a:p>
          <a:p>
            <a:pPr algn="just">
              <a:lnSpc>
                <a:spcPct val="150000"/>
              </a:lnSpc>
            </a:pPr>
            <a:endParaRPr lang="en-IN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4848" y="2274182"/>
            <a:ext cx="8362965" cy="3508310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Environment:</a:t>
            </a:r>
            <a:r>
              <a:rPr lang="en-IN" dirty="0"/>
              <a:t> Google </a:t>
            </a:r>
            <a:r>
              <a:rPr lang="en-IN" dirty="0" err="1"/>
              <a:t>Colab</a:t>
            </a:r>
            <a:r>
              <a:rPr lang="en-IN" dirty="0"/>
              <a:t> (Python) </a:t>
            </a:r>
          </a:p>
          <a:p>
            <a:pPr lvl="0"/>
            <a:r>
              <a:rPr lang="en-IN" b="1" dirty="0"/>
              <a:t>Data Processing:</a:t>
            </a:r>
            <a:r>
              <a:rPr lang="en-IN" dirty="0"/>
              <a:t> Pandas &amp; NumPy (data cleaning, grouping, and feature engineering) </a:t>
            </a:r>
          </a:p>
          <a:p>
            <a:pPr lvl="0"/>
            <a:r>
              <a:rPr lang="en-IN" b="1" dirty="0"/>
              <a:t>Data Visualization:</a:t>
            </a:r>
            <a:r>
              <a:rPr lang="en-IN" dirty="0"/>
              <a:t> Matplotlib &amp; Seaborn (bar charts, pie charts, and correlation heatmap) 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6018245"/>
            <a:ext cx="7266296" cy="5501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7226" y="5343832"/>
            <a:ext cx="5791199" cy="1128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100" dirty="0"/>
              <a:t>About 79.8% of people (4,141 individuals) had zero doctor visits, showing most did not need care in the two-week period. Only 15.1% (782) visited once and 5.1% (267) visited two or more times, highlighting a steep drop in frequent care utilization.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7A5E7A-DD08-4134-3641-0A3AF474F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875" y="1514168"/>
            <a:ext cx="6868584" cy="365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115C-7EC6-BAF8-0461-7F39AFCC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D19C8B-3199-7005-5C05-61FD320911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41DB835-BCD4-4768-6AB0-C1B3B4F8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2E86CB4-F981-7F94-A092-EC24BAADB38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6AF64AF-AB36-D197-1E13-0711CE5AD2A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6D20273-A4FD-337D-DAC3-E31D63D6DAE3}"/>
              </a:ext>
            </a:extLst>
          </p:cNvPr>
          <p:cNvSpPr txBox="1">
            <a:spLocks/>
          </p:cNvSpPr>
          <p:nvPr/>
        </p:nvSpPr>
        <p:spPr>
          <a:xfrm>
            <a:off x="422959" y="6102220"/>
            <a:ext cx="7266296" cy="4662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00548B-9CDC-599C-BC32-B0EF622F8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14117" y="5167130"/>
            <a:ext cx="4275138" cy="830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Around</a:t>
            </a:r>
            <a:r>
              <a:rPr lang="en-IN" sz="1100" dirty="0"/>
              <a:t> 79.8% of individuals (4,141 people) did not visit a doctor during the two-week timeframe. The remaining 20.2% (1,049 people) sought medical care with one or more visits, showing that roughly one in five respondents used healthcare services.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2F1CE-C208-24CA-4A7C-EFEE01879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117" y="1236815"/>
            <a:ext cx="3886517" cy="36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80AE-AC60-ED99-2205-8CD511D2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A55347-CD29-2ABF-D1BD-1B276348E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7B04FC-319F-6998-F84D-425CD1B8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375674C-8D09-7C6C-F3B6-D2BA704CAD6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0FCAE0D-E71F-86F3-FB8E-21C28EA2380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10CDB46-376D-4BE7-EE05-B6B3DFD3D655}"/>
              </a:ext>
            </a:extLst>
          </p:cNvPr>
          <p:cNvSpPr txBox="1">
            <a:spLocks/>
          </p:cNvSpPr>
          <p:nvPr/>
        </p:nvSpPr>
        <p:spPr>
          <a:xfrm>
            <a:off x="503223" y="6471920"/>
            <a:ext cx="7470739" cy="3344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14AD0B9-992E-D8F9-5137-19D81F8E1D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14389" y="5240914"/>
            <a:ext cx="4275138" cy="9930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Female patients averaged approximately 0.36 doctor visits, compared to 0.24 visits for male patients over the two-week period. This indicates that women sought medical consultations about 53% more frequently than men in this surveyed population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22CE0A-EAC5-1656-FB51-60AE162D4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20" y="1465007"/>
            <a:ext cx="5407742" cy="36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1514-54D5-A21F-CAE1-28C13B7E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DE4756-2A84-EA4A-84C0-53B3DE156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380BDE-CBD3-0CDC-C189-BC5F72FC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704F6D8-1AF5-12AE-D460-B9DED3BE237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D11DE1B-8CC0-B1F9-874F-C4F0A829318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2C78398-4A31-609B-EEF1-DCB8DCC9F872}"/>
              </a:ext>
            </a:extLst>
          </p:cNvPr>
          <p:cNvSpPr txBox="1">
            <a:spLocks/>
          </p:cNvSpPr>
          <p:nvPr/>
        </p:nvSpPr>
        <p:spPr>
          <a:xfrm>
            <a:off x="320982" y="6471341"/>
            <a:ext cx="7610698" cy="2750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490CB412-A0B4-A29F-CA9D-4A290DC77CF1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2991012" y="5020033"/>
                <a:ext cx="5338917" cy="123100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200" dirty="0"/>
                  <a:t>The red trendline shows a slight upward slope, indicating a modest positive link between older age and more frequent doctor visits (</a:t>
                </a:r>
                <a14:m>
                  <m:oMath xmlns:m="http://schemas.openxmlformats.org/officeDocument/2006/math">
                    <m:r>
                      <a:rPr lang="en-IN" sz="1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200">
                        <a:latin typeface="Cambria Math" panose="02040503050406030204" pitchFamily="18" charset="0"/>
                      </a:rPr>
                      <m:t>=0.12</m:t>
                    </m:r>
                  </m:oMath>
                </a14:m>
                <a:r>
                  <a:rPr lang="en-IN" sz="1200" dirty="0"/>
                  <a:t>). While zero visits remain most common across all age brackets, older individuals display higher maximum visit counts and nearly double the average visit rate compared to younger groups.</a:t>
                </a:r>
              </a:p>
            </p:txBody>
          </p:sp>
        </mc:Choice>
        <mc:Fallback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490CB412-A0B4-A29F-CA9D-4A290DC77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2991012" y="5020033"/>
                <a:ext cx="5338917" cy="1231006"/>
              </a:xfrm>
              <a:blipFill>
                <a:blip r:embed="rId3"/>
                <a:stretch>
                  <a:fillRect l="-114" r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0522D60-202F-C2E1-E8BA-6C8CC5B29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395" y="1412090"/>
            <a:ext cx="5702708" cy="365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7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C788-2CE5-FEC5-F00B-A7745AE9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21FC1-5A2B-F8B8-DC42-BDEFD9810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BB9B8A-41F5-65EA-8170-B0C143E2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263E308-14EE-0229-3526-13255DBBFE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371A6BC-5AF5-BFD1-E284-9DC5BA87F89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D5BF21A-6DE8-B31D-3B95-77D2946F0AC4}"/>
              </a:ext>
            </a:extLst>
          </p:cNvPr>
          <p:cNvSpPr txBox="1">
            <a:spLocks/>
          </p:cNvSpPr>
          <p:nvPr/>
        </p:nvSpPr>
        <p:spPr>
          <a:xfrm>
            <a:off x="422959" y="6464255"/>
            <a:ext cx="6957555" cy="3937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FFC32F7-76F2-B499-E1D8-FEFBA23124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72542" y="5251329"/>
            <a:ext cx="5351524" cy="12687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Average doctor visits climb steadily as recent illnesses increase, rising from under 0.1 visits for zero illnesses to over 0.8 visits for five illnesses. This demonstrates a strong direct relationship where patients with multiple simultaneous health issues seek medical care far more often.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CF6648-5AF7-90AC-5826-E348E9C79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387" y="1524401"/>
            <a:ext cx="5102942" cy="347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2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68E9-B741-0FA4-58DA-720424AB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1EC102-CEFC-5DBF-2BD7-6F6CB02E6E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87E60DF-745E-2BC0-525B-4E0F7F96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950003F-AF72-7ED7-92B3-6CF8B6F8178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B2B04EA-2358-7B26-8D42-35AE727921B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51CA190-5B4C-5361-07FF-FCED9B723A9B}"/>
              </a:ext>
            </a:extLst>
          </p:cNvPr>
          <p:cNvSpPr txBox="1">
            <a:spLocks/>
          </p:cNvSpPr>
          <p:nvPr/>
        </p:nvSpPr>
        <p:spPr>
          <a:xfrm>
            <a:off x="422959" y="6375400"/>
            <a:ext cx="6752282" cy="2895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673E427-2B08-5B17-9FD5-5C7393BCB9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3017" y="5077659"/>
            <a:ext cx="5338917" cy="12310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Patients with limiting chronic illnesses have the highest consultation rate at roughly </a:t>
            </a:r>
            <a:r>
              <a:rPr lang="en-IN" sz="1400" dirty="0"/>
              <a:t>0.60</a:t>
            </a:r>
            <a:r>
              <a:rPr lang="en-IN" sz="1200" dirty="0"/>
              <a:t> visits, compared to 0.35 for non-limiting conditions and just 0.19 for those with no chronic conditions. This shows that health conditions which actively restrict daily life more than triple doctor visit frequency.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E4232C-5C82-ED78-699E-A17A8AF9D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451" y="1201586"/>
            <a:ext cx="6243483" cy="36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3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E804-C06E-1F26-5F8D-94337257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80429B-0734-DE9B-FC4F-890739B911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D59599-61C6-EC9A-F627-15A749A2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8642C2A-D46F-F2B9-D66D-CA2D3567B3E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51B8F59-B502-CC3B-8746-C81510952FD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33D875E-BAB0-FB72-4F17-244778276868}"/>
              </a:ext>
            </a:extLst>
          </p:cNvPr>
          <p:cNvSpPr txBox="1">
            <a:spLocks/>
          </p:cNvSpPr>
          <p:nvPr/>
        </p:nvSpPr>
        <p:spPr>
          <a:xfrm>
            <a:off x="413629" y="6466534"/>
            <a:ext cx="7144168" cy="4662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7FC992C-615D-0666-9585-4C49267431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7417" y="5216556"/>
            <a:ext cx="5338917" cy="1031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Free repatriation and veteran coverage shows the highest consultation rate at roughly 0.47 visits compared to 0.26 without coverage. Meanwhile, private insurance shows nearly identical visit rates (~0.30 visits regardless of coverage), and low-income welfare recipients average fewer visits (0.16 vs. 0.31).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D0BAF-8B07-0238-EF90-02B6CFBA9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176" y="1029076"/>
            <a:ext cx="8083312" cy="39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451ED-D5F3-4638-E757-023A6224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3EACDB-102B-CB17-26AA-5AE5C816D6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500F00-9877-CD93-8EA3-0AFD2243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4411EC7-8EE8-4149-4D4A-C3EE7C7635B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E61C9D1-5DA1-9AA3-F691-644C5BC6593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65A97FF-2C00-D4C8-B038-9ADE728DBD75}"/>
              </a:ext>
            </a:extLst>
          </p:cNvPr>
          <p:cNvSpPr txBox="1">
            <a:spLocks/>
          </p:cNvSpPr>
          <p:nvPr/>
        </p:nvSpPr>
        <p:spPr>
          <a:xfrm>
            <a:off x="450951" y="6556539"/>
            <a:ext cx="7414755" cy="36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 </a:t>
            </a:r>
            <a:r>
              <a:rPr lang="en-GB" b="0" u="sng" dirty="0" err="1">
                <a:solidFill>
                  <a:srgbClr val="0070C0"/>
                </a:solidFill>
              </a:rPr>
              <a:t>Github</a:t>
            </a:r>
            <a:r>
              <a:rPr lang="en-GB" b="0" u="sng" dirty="0">
                <a:solidFill>
                  <a:srgbClr val="0070C0"/>
                </a:solidFill>
              </a:rPr>
              <a:t> link: https://github.com/dhanaseelan-r4/Healthcare-Analytics-For-Doctor-Visit-.git</a:t>
            </a:r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52FB926-2EE7-5A8D-A379-38DF6EEC1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48474" y="5195012"/>
            <a:ext cx="5413390" cy="1121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Days of reduced activity (reduced, 0.42) and illness count (illness, 0.22) show the strongest positive correlation with doctor visits, proving immediate health limitations drive care-seeking most. In contrast, age (0.12) and health score (0.19) have weak links, while income has a slight negative correlation (-0.08).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E5201E-ED35-B620-4E6A-8B070D3D0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780" y="1201586"/>
            <a:ext cx="6885446" cy="393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2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0204898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28596" y="2244917"/>
            <a:ext cx="6253809" cy="1531040"/>
          </a:xfrm>
        </p:spPr>
        <p:txBody>
          <a:bodyPr>
            <a:noAutofit/>
          </a:bodyPr>
          <a:lstStyle/>
          <a:p>
            <a:r>
              <a:rPr lang="en-IN" sz="4000" dirty="0"/>
              <a:t>I appreciate your time and attention. It was a pleasure presenting this analysis.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665</TotalTime>
  <Words>896</Words>
  <Application>Microsoft Office PowerPoint</Application>
  <PresentationFormat>Widescreen</PresentationFormat>
  <Paragraphs>58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Trebuchet MS</vt:lpstr>
      <vt:lpstr>Wingdings</vt:lpstr>
      <vt:lpstr>Wingdings 3</vt:lpstr>
      <vt:lpstr>Facet</vt:lpstr>
      <vt:lpstr>Healthcare Analytics For Doctor Visit TIRTC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DHANASEELAN R</cp:lastModifiedBy>
  <cp:revision>77</cp:revision>
  <dcterms:created xsi:type="dcterms:W3CDTF">2021-07-11T13:13:15Z</dcterms:created>
  <dcterms:modified xsi:type="dcterms:W3CDTF">2026-10-08T04:54:16Z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